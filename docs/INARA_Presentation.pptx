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09728" cy="2560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560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BDD"/>
                </a:solidFill>
              </a:rPr>
              <a:t>NORTHEASTERN UNIVERSITY  ·  CS 6140 MACHINE LEARNING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Exploring ML Models for Detection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D88"/>
                </a:solidFill>
              </a:rPr>
              <a:t>Atmospheric Composition in Exoplanets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</a:rPr>
              <a:t>Machine learning–based atmospheric retrieval from synthetic transmission spectra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D88"/>
                </a:solidFill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1188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Shantanu Wankhare   wankhare.s@northeastern.edu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5935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Bhalchandra Shinde   shinde.b@northeastern.edu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0682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Asad Mulani             mulani.a@northeastern.edu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983480"/>
            <a:ext cx="3474720" cy="475488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010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Dataset: INARA  (NASA FDL / Zorzan et al. 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017520"/>
            <a:ext cx="2926080" cy="292608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3832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 — 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The intersection of scientific urgency and methodological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03520" cy="50292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The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55648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▸  Rocky exoplanet atmospheres reveal if a world could be habitable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▸  Co-detection of O₂ + CH₄ is a strong biosignature — signals biological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64991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▸  JWST + planned Habitable Worlds Observatory (HWO) produce spectra at unprecedented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69664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▸  Population-level surveys require analysing thousands of planets simultaneously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2286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2182B"/>
                </a:solidFill>
              </a:rPr>
              <a:t>Traditional Bayesian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75564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✗  Nested sampling / MCMC — rigorous but slow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86000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✗  Hours to days per planet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1635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✗  Does not scale to thousands of targets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749039"/>
            <a:ext cx="594360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3C"/>
                </a:solidFill>
              </a:rPr>
              <a:t>ML-Based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2793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✓  Milliseconds per planet once 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7365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✓  Enables population-level atmospheric studies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1937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✓  Active research direction (JWST era, 2022–present)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65099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✓  Established benchmarks exist (Márquez-Neila 2018; Vasist 2023; Gebhard 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Multi-output regression over molecular log₁₀ abundances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29844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2B5C"/>
                </a:solidFill>
              </a:rPr>
              <a:t>Given a transmission spectrum of an exoplanet's atmosphere,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</a:rPr>
              <a:t>predict the log₁₀ surface volume mixing ratios of 12 molecular species.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3474720" cy="256032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A0"/>
                </a:solidFill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Transmission Spectrum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3 spectral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4,378 wavelength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0.2 – 2.0 µm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542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(HWO / LUVOIR design)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743200"/>
            <a:ext cx="2743200" cy="25603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816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D88"/>
                </a:solidFill>
              </a:rPr>
              <a:t>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FF"/>
                </a:solidFill>
              </a:rPr>
              <a:t>(baseline, ≤10k samples)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1D ResNet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FF"/>
                </a:solidFill>
              </a:rPr>
              <a:t>(deep model, full dataset)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743200"/>
            <a:ext cx="356616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8163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A3C"/>
                </a:solidFill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200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12 Molecular Abundances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H₂O · CO₂ · O₂ · O₃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959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CH₄ · N₂ · N₂O · 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306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H₂ · H₂S · SO₂ · NH₃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54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(log₁₀ VMR at surface)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32120"/>
            <a:ext cx="11430000" cy="6400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5955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4400"/>
                </a:solidFill>
              </a:rPr>
              <a:t>Why log₁₀ space?  Mixing ratios span ~12 orders of magnitude (~0.1 for N₂ to 10⁻⁴⁰ for trace species). Log₁₀ makes the prediction scale uniform — an error of 1.0 means 'off by one order of magnitude'.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— INARA (NASA FDL / Zorzan et al.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3.1 million synthetic rocky planet spectra from NASA Planetary Spectrum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03520" cy="51206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</a:rPr>
              <a:t>Dataset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Full dataset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3,112,620 synthetic spectra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04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This project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04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~124,000 samples (limited by compute)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26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Wavelength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26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0.2 – 2.0 µm (HWO / LUVOIR range)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484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Wavelength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48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4,378 per spectrum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702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Stellar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270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F, G, K, M — 4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Aux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892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8 per system (Tₛ, Rₚ, g, distance, 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513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513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CSV per planet → .npy arrays after 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234440"/>
            <a:ext cx="5943600" cy="2514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325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</a:rPr>
              <a:t>Input Spectral Channels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755648"/>
            <a:ext cx="502920" cy="50292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1828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7922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Observed SNR spectrum  (star+planet / noise), normalised per spectrum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414015"/>
            <a:ext cx="502920" cy="50292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24871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45059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Mean-subtracted SNR — removes stellar continuum, isolates molecular absorption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072384"/>
            <a:ext cx="502920" cy="50292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1888" y="31455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108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Log transit depth — direct measure of atmosphere thickness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3931920"/>
            <a:ext cx="5943600" cy="2331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023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3C"/>
                </a:solidFill>
              </a:rPr>
              <a:t>12 Target Molecules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462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A0"/>
                </a:solidFill>
              </a:rPr>
              <a:t>Habitability: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4622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H₂O · CO₂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864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2182B"/>
                </a:solidFill>
              </a:rPr>
              <a:t>Biosignatures: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8646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O₂ · O₃ · CH₄ · N₂O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2669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</a:rPr>
              <a:t>Background: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52669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N₂ · H₂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6692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6D31"/>
                </a:solidFill>
              </a:rPr>
              <a:t>Geochemical: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5669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 · H₂S · SO₂ · NH₃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Pipeline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Five-stage structured pipeline — each step produces reusable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2011680" cy="13716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D8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tar.gz → .npy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34440"/>
            <a:ext cx="2011680" cy="137160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D8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Split + Norm + 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234440"/>
            <a:ext cx="2011680" cy="137160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D88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Baseline 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10k-capped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234440"/>
            <a:ext cx="2011680" cy="1371600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D88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Deep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Full-data ResNet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673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234440"/>
            <a:ext cx="2011680" cy="1371600"/>
          </a:xfrm>
          <a:prstGeom prst="rect">
            <a:avLst/>
          </a:prstGeom>
          <a:solidFill>
            <a:srgbClr val="8C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2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D88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7190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103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Unified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34640"/>
            <a:ext cx="11612880" cy="3383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907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Step 2 Deep Dive — Feature Engineering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364992"/>
            <a:ext cx="2651760" cy="2651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34381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70 / 15 / 15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Deterministic (seed=42)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611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Fixed once — both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8172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use identical test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023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Saved as train/val/test_indices.npy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364992"/>
            <a:ext cx="2651760" cy="2651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01568" y="34381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Z-Score Normalisation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3840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Per CLIMA channel (12 channels)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2611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Fit on train set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468172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Prevents data leakage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1023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Saved as scaler.joblib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3364992"/>
            <a:ext cx="2651760" cy="26517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34381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PCA (RF only)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840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Flatten: 12×101 → 1212 features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2611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Reduce to 300 components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68172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Retains ~95% variance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1023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Saved as pca.joblib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59" y="3364992"/>
            <a:ext cx="2651760" cy="2651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62287" y="34381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Deep Model Input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19" y="3840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Raw 2D tensor (12 × 101)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19" y="42611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No PCA — CNN learns features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19" y="468172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Z-normalised spectra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19" y="51023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· Stored as spectra_train.npy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Baseline Model —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12 independent RandomForestRegressors on PCA-reduced features (≤ 10,000 training samples)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03520" cy="51206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6479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Input: PCA features (N, 300)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One RandomForestRegressor per molecule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1576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12 completely independent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9125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Prediction: column-stack 12 scalars → (N, 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A0"/>
                </a:solidFill>
              </a:rPr>
              <a:t>Why per-molecule?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Each molecule has different prediction difficulty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Independent tuning of depth / n_estimators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Failing molecule doesn't affect others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182B"/>
                </a:solidFill>
              </a:rPr>
              <a:t>Why 10k cap?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33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RF is the fast baseline — &lt;1 min training, no GPU needed. Fair comparison point.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234440"/>
            <a:ext cx="6126480" cy="507492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3258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</a:rPr>
              <a:t>Per-Molecule Hyperparameters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755648"/>
            <a:ext cx="685800" cy="33762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59" y="1792224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755648"/>
            <a:ext cx="713232" cy="33762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1792224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Trees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5472" y="1755648"/>
            <a:ext cx="658368" cy="33762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1792224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755648"/>
            <a:ext cx="713232" cy="33762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792224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max_feat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1755648"/>
            <a:ext cx="2560320" cy="33762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1792224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Rationale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2093272"/>
            <a:ext cx="68580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59" y="2129848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H₂O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093272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2129848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2" y="2093272"/>
            <a:ext cx="658368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51192" y="2129848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093272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2129848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77072" y="2093272"/>
            <a:ext cx="256032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22792" y="2129848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High variance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2430897"/>
            <a:ext cx="68580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59" y="2467473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CO₂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430897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59" y="2467473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5472" y="2430897"/>
            <a:ext cx="658368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467473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2430897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2467473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77072" y="2430897"/>
            <a:ext cx="256032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2467473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Stable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2768521"/>
            <a:ext cx="68580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59" y="2805097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O₂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2768521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59" y="2805097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5472" y="2768521"/>
            <a:ext cx="658368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51192" y="2805097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2768521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9560" y="2805097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77072" y="2768521"/>
            <a:ext cx="256032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22792" y="2805097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Stable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6440" y="3106146"/>
            <a:ext cx="68580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52159" y="3142722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O₃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3106146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7959" y="3142722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05472" y="3106146"/>
            <a:ext cx="658368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51192" y="3142722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3106146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09560" y="3142722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77072" y="3106146"/>
            <a:ext cx="256032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22792" y="3142722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Variable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3443771"/>
            <a:ext cx="68580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59" y="3480347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CH₄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3443771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59" y="3480347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05472" y="3443771"/>
            <a:ext cx="658368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51192" y="3480347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63840" y="3443771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09560" y="3480347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77072" y="3443771"/>
            <a:ext cx="256032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22792" y="3480347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High variance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06440" y="3781395"/>
            <a:ext cx="68580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52159" y="3817971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N₂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3781395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37959" y="3817971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150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05472" y="3781395"/>
            <a:ext cx="658368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51192" y="3817971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863840" y="3781395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909560" y="3817971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0.4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77072" y="3781395"/>
            <a:ext cx="256032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22792" y="3817971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Near-constant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06440" y="4119020"/>
            <a:ext cx="68580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52159" y="4155596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N₂O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92240" y="4119020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37959" y="4155596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05472" y="4119020"/>
            <a:ext cx="658368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51192" y="4155596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63840" y="4119020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09560" y="4155596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77072" y="4119020"/>
            <a:ext cx="256032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22792" y="4155596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Variable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06440" y="4456644"/>
            <a:ext cx="68580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852159" y="4493220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92240" y="4456644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37959" y="4493220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205472" y="4456644"/>
            <a:ext cx="658368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51192" y="4493220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63840" y="4456644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09560" y="4493220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77072" y="4456644"/>
            <a:ext cx="256032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622792" y="4493220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Variable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06440" y="4794269"/>
            <a:ext cx="68580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52159" y="4830845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H₂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92240" y="4794269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37959" y="4830845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300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205472" y="4794269"/>
            <a:ext cx="658368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251192" y="4830845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16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863840" y="4794269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909560" y="4830845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77072" y="4794269"/>
            <a:ext cx="256032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22792" y="4830845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Variable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806440" y="5131894"/>
            <a:ext cx="68580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52159" y="5168470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H₂S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492240" y="5131894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537959" y="5168470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400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205472" y="5131894"/>
            <a:ext cx="658368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251192" y="5168470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863840" y="5131894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909560" y="5168470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577072" y="5131894"/>
            <a:ext cx="256032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22792" y="5168470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Trace species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06440" y="5469518"/>
            <a:ext cx="68580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52159" y="5506094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SO₂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92240" y="5469518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537959" y="5506094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400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205472" y="5469518"/>
            <a:ext cx="658368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251192" y="5506094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863840" y="5469518"/>
            <a:ext cx="713232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09560" y="5506094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77072" y="5469518"/>
            <a:ext cx="2560320" cy="33762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22792" y="5506094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Trace species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06440" y="5807143"/>
            <a:ext cx="68580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52159" y="5843719"/>
            <a:ext cx="594360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NH₃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492240" y="5807143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537959" y="5843719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400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205472" y="5807143"/>
            <a:ext cx="658368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251192" y="5843719"/>
            <a:ext cx="566928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22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63840" y="5807143"/>
            <a:ext cx="713232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909560" y="5843719"/>
            <a:ext cx="621792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sqrt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77072" y="5807143"/>
            <a:ext cx="2560320" cy="337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622792" y="5843719"/>
            <a:ext cx="2468879" cy="29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Trace species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Deep Model — 1D ResNet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Shared convolutional backbone + 12 per-molecule output heads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148840" cy="484631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234440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289304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289304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12, 101)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289304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Normalised CLIMA profile — 12 channels × 101 altitude levels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2148840" cy="484631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1755648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1920" y="1755648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1810512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Stem Conv1d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1810512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64, 101)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1810512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Conv(12→64, k=11, s=1, p=5)  +  BatchNorm  +  ReLU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76856"/>
            <a:ext cx="2148840" cy="484631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68880" y="2276856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2276856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331720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Stage 1  ×2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331720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 64, 101)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2331720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ResBlock(64→64, stride=1)  ×2  —  fine-scale altitude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98064"/>
            <a:ext cx="2148840" cy="484631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68880" y="2798064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31920" y="2798064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852928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Stage 2  ×2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2852928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128,  51)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2852928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ResBlock(64→128, stride=2)  ×2  —  halve sequence length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19272"/>
            <a:ext cx="2148840" cy="484631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3319272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31920" y="3319272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374136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Stage 3  ×2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3374136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256,  26)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5072" y="3374136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ResBlock(128→256, stride=2)  ×2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40479"/>
            <a:ext cx="2148840" cy="484631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68880" y="3840479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31920" y="3840479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895343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Stage 4  ×2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895343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512,  13)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3895343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ResBlock(256→512, stride=2)  ×2  —  coarse global features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61688"/>
            <a:ext cx="2148840" cy="484631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68880" y="4361688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31920" y="4361688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4416551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GlobalAvgPool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416551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512)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5072" y="4416551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AdaptiveAvgPool1d(1) — squeeze altitude dimension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82896"/>
            <a:ext cx="2148840" cy="484631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68880" y="4882896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31920" y="4882896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937759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Shared FC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4937759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256)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5072" y="4937759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Dropout(0.3)  +  FC(512→256)  +  LayerNorm  +  ReLU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404104"/>
            <a:ext cx="2148840" cy="484631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68880" y="5404104"/>
            <a:ext cx="1417320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31920" y="5404104"/>
            <a:ext cx="7955279" cy="48463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" y="5458968"/>
            <a:ext cx="20116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12 × Head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4600" y="5458968"/>
            <a:ext cx="13716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182B"/>
                </a:solidFill>
              </a:rPr>
              <a:t>(B, 12)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05072" y="5458968"/>
            <a:ext cx="77724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Per-molecule MLP: FC→LN→ReLU→Dropout → scalar log₁₀ abundance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1170432"/>
            <a:ext cx="214884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68880" y="1170432"/>
            <a:ext cx="141732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31920" y="1170432"/>
            <a:ext cx="7955279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1078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</a:rPr>
              <a:t>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1460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B5C"/>
                </a:solidFill>
              </a:rPr>
              <a:t>Output shape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05072" y="10789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</a:rPr>
              <a:t>Description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2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A0"/>
                </a:solidFill>
              </a:rPr>
              <a:t>ResBlock1D: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15087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Conv1d→BN→ReLU
 Conv1d→BN
+ skip (x) → ReLU
 Shortcut = 1×1 Conv
 if size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Deep Model — Key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Every design decision is motivated by the data's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664208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A0"/>
                </a:solidFill>
              </a:rPr>
              <a:t>1D Convolutions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2821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CLIMA profiles are 1D sequences over altitude. 1D CNNs detect local patterns (e.g. temperature inversion at levels 20–30) and learn hierarchical altitude features across multiple scales — something PCA cannot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66420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</a:rPr>
              <a:t>Residual Skip 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2821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Prevents vanishing gradients in deep networks. Output = F(x) + x — the network learns the residual correction rather than the full transformation. Enables stable training of 9-layer+ networks without gradient decay.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109728" cy="1664208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182B"/>
                </a:solidFill>
              </a:rPr>
              <a:t>Shared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51129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The ResNet body learns general atmospheric representations that are useful for all 12 molecules simultaneously — multi-task learning. The shared 256-d embedding carries information about atmospheric state that each head then specialises.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1752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017520"/>
            <a:ext cx="109728" cy="16642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Per-Molecule Heads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51129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Each molecule has its own MLP head with tuned depth and dropout. Trace species (H₂S, SO₂, NH₃) get 3-layer heads with higher dropout (0.40) to prevent overfitting. Stable species (CO₂, O₂) get lighter 2-layer heads with lower dropout (0.20).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0060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109728" cy="1664208"/>
          </a:xfrm>
          <a:prstGeom prst="rect">
            <a:avLst/>
          </a:prstGeom>
          <a:solidFill>
            <a:srgbClr val="8C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6D31"/>
                </a:solidFill>
              </a:rPr>
              <a:t>Weighted MSE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29437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Standard MSE would let easy molecules dominate. Weights (1.0–2.0) upweight trace species (SO₂, NH₃ at 2.0) and downweight near-constant N₂ (1.0), forcing the network to invest in the molecules that are hardest to detect.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800600"/>
            <a:ext cx="5669280" cy="166420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800600"/>
            <a:ext cx="109728" cy="16642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Gaussian Noise Augmentation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29437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Adding noise std=0.01 to training spectra prevents memorisation of exact profile values. Forces the ResNet to learn robust features that generalise to unseen atmospheric states — analogous to image augmentation in vision CNNs.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AdamW · Cosine LR schedule · Early stopping · Gradient clipping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212080" cy="507492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Training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AdamW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39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Learning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396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 × 10⁻³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Weight decay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96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 × 10⁻⁴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852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852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CosineAnnealingLR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209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T_max / eta_min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095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150 / 1 × 10⁻⁶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Max 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922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Early stop patience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9227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30 epochs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79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Min delta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79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1 × 10⁻⁵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636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Batch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32 (train) / 64 (eval)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Grad clip norm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926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5.0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Noise augmentation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49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std = 0.01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705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2B5C"/>
                </a:solidFill>
              </a:rPr>
              <a:t>Dataset (train)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7058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~87,000 samples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1234440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1234440"/>
            <a:ext cx="91440" cy="1170432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132588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A0"/>
                </a:solidFill>
              </a:rPr>
              <a:t>AdamW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691640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Adam with decoupled weight decay — L2 regularisation is applied directly to weights, independent of the adaptive gradient. Better generalisation than standard Adam.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496312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2496312"/>
            <a:ext cx="91440" cy="117043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258775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</a:rPr>
              <a:t>Cosine Annealing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953512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LR starts at 1e-3, smoothly decays to 1e-6 following a cosine curve. No sharp drops. Naturally slows near minima to avoid oscillation.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758183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3758183"/>
            <a:ext cx="91440" cy="1170432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3849623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182B"/>
                </a:solidFill>
              </a:rPr>
              <a:t>Early Stopping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215383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Monitors val_loss. If no improvement &gt; 1e-5 for 30 epochs, training stops and the best checkpoint is restored — prevents overfitting at zero extra cost.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5020056"/>
            <a:ext cx="6126480" cy="1170432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020056"/>
            <a:ext cx="91440" cy="11704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511149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Gradient Clipping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477256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If gradient norm &gt; 5.0, all gradients are scaled down proportionally. Prevents exploding gradient spikes that destabilise early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Held-out test set · Per-molecule R², RMSE, MAE · Unified comparison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49039" cy="2514600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075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R²
Coefficient of Determination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01168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A0"/>
                </a:solidFill>
              </a:rPr>
              <a:t>1 − Σ(y − ŷ)² / Σ(y − ȳ)²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23744"/>
            <a:ext cx="3474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Primary metric. Scale-normalised — 0.75 means '75% of variance explained' regardless of molecule. Enables fair cross-molecule comparison. R² &lt; 0 means worse than predicting the mean.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25146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075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RMSE
Root Mean Squared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1168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048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</a:rPr>
              <a:t>√[Σ(y − ŷ)² / 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23744"/>
            <a:ext cx="3474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 log₁₀ units (orders of magnitude). Penalises large errors more than MAE. A RMSE of 0.5 means predictions are typically ½ an order of magnitude off.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2514600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30759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MAE
Mean Absolute 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011680"/>
            <a:ext cx="3474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48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2182B"/>
                </a:solidFill>
              </a:rPr>
              <a:t>Σ|y − ŷ| /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23744"/>
            <a:ext cx="34747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Also in log₁₀ units. More robust to outliers than RMSE. Complementary to RMSE — if RMSE &gt;&gt; MAE, there are a few large prediction errors dominating.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11612880" cy="2240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05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Evaluation Fairness Principles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Same test set: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34840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Both models evaluated on the identical 19k-sample test split, fixed in Step 2 with seed=42. Scores are directly comparable.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434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Intentionally asymmetric training: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34840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RF uses 10k samples; ResNet uses ~87k. The comparison is baseline vs deep model — not equal-data ablation.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056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Per-molecule granularity: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056631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Reporting R²/RMSE/MAE for each of 12 molecules reveals which species each model handles well or poorly.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056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6BA0"/>
                </a:solidFill>
              </a:rPr>
              <a:t>Mean R² summary: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056631"/>
            <a:ext cx="3611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Unweighted mean across 12 molecules provides a single-number comparison. NH₃ and N₂ drag it down for both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Per-Molecule Test R²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Test set: ~19,000 samples — identical for both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100584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27101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Molecule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234440"/>
            <a:ext cx="118872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127101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Baseline 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234440"/>
            <a:ext cx="109728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127101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ResNet 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234440"/>
            <a:ext cx="9144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27101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ΔR²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234440"/>
            <a:ext cx="493776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27101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54480"/>
            <a:ext cx="100584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159105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H₂O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5448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159105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+0.3669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1554480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5456" y="159105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+0.6299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1554480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159105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554480"/>
            <a:ext cx="493776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159105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Deep wins — ResNet captures altitude patterns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874519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1911095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CO₂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1874519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6736" y="1911095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+0.3262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1874519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05456" y="1911095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+0.6006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1874519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1911095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1874519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1911095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Deep wins — non-linear vertical CO₂ structure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194560"/>
            <a:ext cx="100584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" y="223113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O₂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219456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6736" y="223113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+0.5985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2194560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05456" y="223113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+0.5939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2194560"/>
            <a:ext cx="91440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2736" y="223113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182B"/>
                </a:solidFill>
              </a:rPr>
              <a:t>−0.00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2194560"/>
            <a:ext cx="493776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7136" y="223113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Tie — linear PCA sufficient for O₂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51460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255117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O₃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251460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6736" y="255117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+0.7547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2514600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05456" y="255117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+0.8954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2514600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02736" y="255117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560" y="2514600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17136" y="255117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Best molecule for both — strong signal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834640"/>
            <a:ext cx="100584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287121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CH₄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80160" y="283464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16736" y="287121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+0.4793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68880" y="2834640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05456" y="287121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+0.6978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66160" y="2834640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02736" y="287121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+0.22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2834640"/>
            <a:ext cx="493776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17136" y="287121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Deep wins — high variance, complex patterns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154679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" y="319125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N₂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0" y="3154679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16736" y="319125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−0.0421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68880" y="3154679"/>
            <a:ext cx="109728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05456" y="319125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+0.0223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66160" y="3154679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02736" y="319125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+0.06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0560" y="3154679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17136" y="319125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Both fail — near-constant, no signal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474720"/>
            <a:ext cx="100584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" y="351129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N₂O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80160" y="347472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16736" y="351129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+0.2133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68880" y="3474720"/>
            <a:ext cx="109728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05456" y="351129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+0.1137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66160" y="3474720"/>
            <a:ext cx="91440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02736" y="351129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182B"/>
                </a:solidFill>
              </a:rPr>
              <a:t>−0.10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80560" y="3474720"/>
            <a:ext cx="493776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17136" y="351129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RF wins — deep model overfits low-variance signal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7947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" y="383133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CO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80160" y="379476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16736" y="383133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+0.0465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80" y="3794760"/>
            <a:ext cx="109728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05456" y="383133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+0.0006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3794760"/>
            <a:ext cx="91440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02736" y="383133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182B"/>
                </a:solidFill>
              </a:rPr>
              <a:t>−0.05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80560" y="3794760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17136" y="383133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Both fail — complex photochemistry not in features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114800"/>
            <a:ext cx="100584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0896" y="415137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H₂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80160" y="411480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316736" y="415137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+0.2008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68880" y="4114800"/>
            <a:ext cx="109728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05456" y="415137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+0.0187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66160" y="4114800"/>
            <a:ext cx="914400" cy="3200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02736" y="415137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182B"/>
                </a:solidFill>
              </a:rPr>
              <a:t>−0.18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80560" y="4114800"/>
            <a:ext cx="493776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17136" y="415137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RF wins — deep model overfits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43484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447141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H₂S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80160" y="4434840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16736" y="447141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+0.5461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68880" y="4434840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505456" y="447141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+0.8162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566160" y="4434840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02736" y="447141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+0.27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480560" y="4434840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517136" y="447141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Deep wins — distinctive altitude signature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754879"/>
            <a:ext cx="100584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0896" y="4791455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SO₂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280160" y="4754879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16736" y="4791455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+0.2198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468880" y="4754879"/>
            <a:ext cx="1097280" cy="320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505456" y="4791455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+0.3538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66160" y="4754879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02736" y="4791455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+0.13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80560" y="4754879"/>
            <a:ext cx="493776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17136" y="4791455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Deep wins — trace species with clear signal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5074919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10896" y="5111495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NH₃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280160" y="5074919"/>
            <a:ext cx="1188720" cy="32004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16736" y="5111495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+0.4107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468880" y="5074919"/>
            <a:ext cx="109728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05456" y="5111495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+0.5652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566160" y="5074919"/>
            <a:ext cx="914400" cy="320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602736" y="5111495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7A3C"/>
                </a:solidFill>
              </a:rPr>
              <a:t>+0.16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480560" y="5074919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517136" y="5111495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Both predict floor (−40) — not truly learnable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5394960"/>
            <a:ext cx="100584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10896" y="5431536"/>
            <a:ext cx="9326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280160" y="5394960"/>
            <a:ext cx="118872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16736" y="5431536"/>
            <a:ext cx="11155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+0.3434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468880" y="5394960"/>
            <a:ext cx="109728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505456" y="5431536"/>
            <a:ext cx="1024127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+0.4423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566160" y="5394960"/>
            <a:ext cx="9144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602736" y="5431536"/>
            <a:ext cx="8412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+0.10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80560" y="5394960"/>
            <a:ext cx="493776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17136" y="5431536"/>
            <a:ext cx="48646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Overall: +9.9% mean R²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What the results tell us about ML-based atmospheric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572768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182B"/>
                </a:solidFill>
              </a:rPr>
              <a:t>🌟  Deep model wins on 8/12 molecules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3736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1D ResNet outperforms the RF baseline on most molecules, demonstrating that convolutional feature learning from altitude profiles captures patterns that PCA discards.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572768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A0"/>
                </a:solidFill>
              </a:rPr>
              <a:t>📈  Largest gains on complex 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3736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H₂O (+26%), CO₂ (+27%), H₂S (+27%), CH₄ (+22%) — molecules with rich altitude-dependent chemistry benefit most from the spatial feature extraction of the ResNet.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109728" cy="15727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⚖️  RF remains competitive on stable species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2900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O₂ is effectively tied (ΔR²=−0.005). For near-constant species, the linear PCA projection captures the dominant variance — deeper architectures don't help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109728" cy="1572768"/>
          </a:xfrm>
          <a:prstGeom prst="rect">
            <a:avLst/>
          </a:prstGeom>
          <a:solidFill>
            <a:srgbClr val="8C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6D31"/>
                </a:solidFill>
              </a:rPr>
              <a:t>⚠️  Both models fail on CO, H₂, N₂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These molecules have R²≈0. Their abundance depends on fine-grained photochemical balance not captured in CLIMA profiles — a fundamental input feature limitation, not a model issue.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109728" cy="157276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🔬  Biosignatures are learnable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12064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O₂ (0.60), O₃ (0.90), CH₄ (0.70), N₂O (0.11). O₂ and O₃ are well-predicted. CH₄ shows strong improvement. N₂O remains difficult — future work needed.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17720"/>
            <a:ext cx="5669280" cy="157276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17720"/>
            <a:ext cx="109728" cy="15727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💡  Multi-task learning helps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2064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shared backbone implicitly benefits from being trained on all 12 targets simultaneously. Cross-molecule correlations (e.g. O₂/O₃ co-variation) are captured in the shared representation.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Comparison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Baseline RF vs SpectralResNet — design, compute, and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743200" cy="386861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71016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234440"/>
            <a:ext cx="4389120" cy="386861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1271016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Random Forest (Baseline)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234440"/>
            <a:ext cx="4389120" cy="386861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271016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SpectralResNet (Deep)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1301"/>
            <a:ext cx="274320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57877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621301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1657877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12 independent RFs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621301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657877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1D ResNet + 12 heads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008163"/>
            <a:ext cx="274320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44739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Input 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008163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39" y="2044739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Flat PCA vector (300-d)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08163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044739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2D tensor (12 × 101)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95024"/>
            <a:ext cx="274320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431600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Feature extraction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2395024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39" y="2431600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PCA — linear, pre-computed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395024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431600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Learned convolutional filters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781886"/>
            <a:ext cx="274320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818462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Multi-task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2781886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39" y="2818462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None — fully independent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2781886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2818462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Yes — shared backbone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168747"/>
            <a:ext cx="274320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205323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Training samples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168747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39" y="3205323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10,000 (hard cap)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168747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3205323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~87,000 (full training split)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555609"/>
            <a:ext cx="274320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592185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Training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3555609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39" y="3592185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&lt; 1 min (CPU)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3555609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592185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10–20 min (MPS/GPU)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942470"/>
            <a:ext cx="274320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979046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Parameters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3942470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63239" y="3979046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Non-parametric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3942470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3979046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~2 million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329332"/>
            <a:ext cx="274320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365908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GPU required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4329332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63239" y="4365908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4329332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52360" y="4365908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Recommended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716193"/>
            <a:ext cx="274320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752769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Interpretability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4716193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63239" y="4752769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Feature importance available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06640" y="4716193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52360" y="4752769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Black box (lower)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103055"/>
            <a:ext cx="274320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5139631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Mean test R²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5103055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63239" y="5139631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0.34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5103055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52360" y="5139631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0.44  (+29% relative)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489916"/>
            <a:ext cx="274320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526492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Best molecule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5489916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63239" y="5526492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O₃  R²=0.75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06640" y="5489916"/>
            <a:ext cx="4389120" cy="386861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52360" y="5526492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O₃  R²=0.90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876778"/>
            <a:ext cx="274320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5913354"/>
            <a:ext cx="265176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Worst molecule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17520" y="5876778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63239" y="5913354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N₂  R²=−0.04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06640" y="5876778"/>
            <a:ext cx="43891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52360" y="5913354"/>
            <a:ext cx="4297680" cy="34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  R²=0.00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Honest assessment of what works and what doesn't —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609344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182B"/>
                </a:solidFill>
              </a:rPr>
              <a:t>Data scale vs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Full INARA has 3.1M spectra. We used ~124k due to local compute constraints (~10 GB processed). Extraction from 10 tar.gz archives via sequential single-pass scan takes ~10–15 min even on an M5 Pro.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60934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NH₃ — not learnable from CLIMA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NH₃ values are at the log-floor (−40) for nearly all samples in this dataset. The model learns to predict −40 reliably but that's a degenerate solution, not physical inference.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53512"/>
            <a:ext cx="109728" cy="1609344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A0"/>
                </a:solidFill>
              </a:rPr>
              <a:t>CO and H₂ — fundamental degeneracy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These molecules' abundances depend on photochemical fine structure not captured in CLIMA profiles. No ML model can overcome missing input information — this is an inverse problem degeneracy, not a model failure.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53512"/>
            <a:ext cx="109728" cy="160934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Asymmetric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RF uses 10k training samples; the ResNet uses 87k. The +9.9% R² improvement is partly attributable to more data, not purely to the architecture. A data-equal ablation would isolate the architecture contribution.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72583"/>
            <a:ext cx="109728" cy="1609344"/>
          </a:xfrm>
          <a:prstGeom prst="rect">
            <a:avLst/>
          </a:prstGeom>
          <a:solidFill>
            <a:srgbClr val="8C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6D31"/>
                </a:solidFill>
              </a:rPr>
              <a:t>N₂ near-constant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N₂ std = 0.044 in log₁₀ space — essentially constant. R² is a poor metric here because the denominator (variance) is near-zero. RMSE shows the model does reasonably, but R² is misleading.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72583"/>
            <a:ext cx="109728" cy="1609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Real data validation 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All experiments are on synthetic INARA spectra. Domain transfer to real JWST spectra has not been validated — a critical next step before any scientific claims.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Extending this project toward real-world scientific applicability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09728" cy="1609344"/>
          </a:xfrm>
          <a:prstGeom prst="rect">
            <a:avLst/>
          </a:prstGeom>
          <a:solidFill>
            <a:srgbClr val="1A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A0"/>
                </a:solidFill>
              </a:rPr>
              <a:t>🔭  JWST Domain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Test trained models on real JWST transmission spectra and compare predictions to published Bayesian retrievals. Key validation step for scientific credibility.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109728" cy="1609344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</a:rPr>
              <a:t>📊  Full 3.1M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709928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Train the ResNet on the complete INARA dataset using Northeastern Explorer HPC. Expected improvement in R² for high-variance molecules like H₂O and CH₄.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53512"/>
            <a:ext cx="109728" cy="1609344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182B"/>
                </a:solidFill>
              </a:rPr>
              <a:t>🧠  Uncertainty Quantification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Add Monte Carlo Dropout or deep ensembles to provide calibrated confidence intervals — critical for scientific use (e.g. 'O₂ = −0.7 ± 0.2 log₁₀').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53512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53512"/>
            <a:ext cx="109728" cy="160934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449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🔬  Attention / Transformer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Replace or augment the ResNet with a 1D Transformer to learn long-range altitude-level dependencies. Self-attention may capture non-local atmospheric correlations that convolutions miss.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72583"/>
            <a:ext cx="109728" cy="1609344"/>
          </a:xfrm>
          <a:prstGeom prst="rect">
            <a:avLst/>
          </a:prstGeom>
          <a:solidFill>
            <a:srgbClr val="8C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6D31"/>
                </a:solidFill>
              </a:rPr>
              <a:t>⚖️  Equal-Data Ablation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Train the RF baseline on 87k samples (same as ResNet) to cleanly isolate the architecture benefit from the data quantity benefit.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72583"/>
            <a:ext cx="5669280" cy="1609344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72583"/>
            <a:ext cx="109728" cy="16093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7640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🌍  Four Stellar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48071"/>
            <a:ext cx="53035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Stratify analysis by stellar type (F, G, K, M). M-dwarf planets dominate current JWST targets — a model tuned for M stars may outperform a general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DD"/>
                </a:solidFill>
              </a:rPr>
              <a:t>CS 6140 · Machine Learning · Northeastern University · Spring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09728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276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We built an end-to-end ML pipeline  for exoplanet atmospheric retrieval — from raw synthetic spectra to per-molecule R²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13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134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Two models were compared:  Random Forest baseline (10k cap) and 1D SpectralResNet (full training split).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443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999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ResNet achieves mean R² = 0.44  vs baseline 0.34 — a +29% relative improvement — using the same held-out test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301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6850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8503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Largest gains on biosignatures:  O₃ (0.90), CH₄ (0.70), H₂O (0.63), O₂ (0.59) — the molecules most relevant to the search for life.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159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3708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7083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ML retrieval is viable and fast:  milliseconds per planet vs. hours for Bayesian methods — enabling population-level studies.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01768"/>
            <a:ext cx="457200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0566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05663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Next step — real JWST data:  validate on actual observations and add uncertainty quantification for scientific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BBDD"/>
                </a:solidFill>
              </a:rPr>
              <a:t>Shantanu Wankhare  ·  Bhalchandra Shinde  ·  Asad Mulani   |   Dataset: INARA (NASA FDL / Zorzan et al. 2025)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47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CS 6140 · ML · Northeastern University ·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380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441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Zorzan et al. (2025)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6362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INARA: A Machine Learning Dataset for Exoplanet Atmospheric Retrieval. NASA FDL / Exoplanet Archive.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1325880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61320" y="13990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38528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1993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9568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He et al. (2016)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17627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Deep Residual Learning for Image Recognition. CVPR 2016.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1938528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20116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ResNet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51176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56946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Loshchilov &amp; Hutter (2019)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78892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Decoupled Weight Decay Regularisation. ICLR 2019.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551176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26243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AdamW optimizer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63824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218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182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Breiman (2001)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401568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Random Forests. Machine Learning, 45(1), 5–32.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3163824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32369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Random Forest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76472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38313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79475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Márquez-Neila et al. (2018)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014215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Supervised machine learning for analysing spectra of exoplanetary atmospheres. Nature Astronomy.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3776472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38496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ML retrieval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389120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444398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[6]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40740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Vasist et al. (2023)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626864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Neural posterior estimation for exoplanetary atmospheric retrieval. A&amp;A, 672.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0" y="4389120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20" y="44622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Deep learning retrieval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001768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5056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[7]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0200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Gebhard et al. (2024)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23951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Simulation-based inference for exoplanet atmospheric retrievals. A&amp;A.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5001768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5074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SBI retrieval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614416"/>
            <a:ext cx="502920" cy="47548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[8]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6327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</a:rPr>
              <a:t>JWST Collaboration (2023)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85216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Early Release Science observations of transiting exoplanet atmospheres.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5614416"/>
            <a:ext cx="1371600" cy="475488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61320" y="56875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Real spectra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